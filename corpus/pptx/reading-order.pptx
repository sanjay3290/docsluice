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diagrams/data1.xml" ContentType="application/vnd.openxmlformats-officedocument.drawingml.diagramData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aster"/>
  </p:sldMasterIdLst>
  <p:sldIdLst>
    <p:sldId id="256" r:id="rIdSlide1"/>
    <p:sldId id="257" r:id="rIdSlide2"/>
    <p:sldId id="258" r:id="rIdSlide3"/>
    <p:sldId id="259" r:id="rIdSlide4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Slide4" Type="http://schemas.openxmlformats.org/officeDocument/2006/relationships/slide" Target="slides/slide3.xml"/><Relationship Id="rIdSlide3" Type="http://schemas.openxmlformats.org/officeDocument/2006/relationships/slide" Target="slides/slide1.xml"/><Relationship Id="rIdSlide2" Type="http://schemas.openxmlformats.org/officeDocument/2006/relationships/slide" Target="slides/slide2.xml"/><Relationship Id="rIdSlide1" Type="http://schemas.openxmlformats.org/officeDocument/2006/relationships/slide" Target="slides/slide10.xml"/></Relationships>
</file>

<file path=ppt/diagrams/data1.xml><?xml version="1.0" encoding="utf-8"?>
<dgm:dataModel xmlns:dgm="http://schemas.openxmlformats.org/drawingml/2006/diagram" xmlns:a="http://schemas.openxmlformats.org/drawingml/2006/main">
  <dgm:ptLst>
    <dgm:pt modelId="0" type="doc"/>
    <dgm:pt modelId="1">
      <dgm:t>
        <a:bodyPr/>
        <a:p>
          <a:r>
            <a:t>Plan</a:t>
          </a:r>
        </a:p>
      </dgm:t>
    </dgm:pt>
    <dgm:pt modelId="2">
      <dgm:t>
        <a:bodyPr/>
        <a:p>
          <a:r>
            <a:t>Sample</a:t>
          </a:r>
        </a:p>
      </dgm:t>
    </dgm:pt>
    <dgm:pt modelId="3">
      <dgm:t>
        <a:bodyPr/>
        <a:p>
          <a:r>
            <a:t>Core samples</a:t>
          </a:r>
        </a:p>
      </dgm:t>
    </dgm:pt>
    <dgm:pt modelId="4">
      <dgm:t>
        <a:bodyPr/>
        <a:p>
          <a:r>
            <a:t>Report</a:t>
          </a:r>
        </a:p>
      </dgm:t>
    </dgm:pt>
    <dgm:pt modelId="5" type="pres">
      <dgm:t>
        <a:bodyPr/>
        <a:p>
          <a:r>
            <a:t>Presentation text (skipped)</a:t>
          </a:r>
        </a:p>
      </dgm:t>
    </dgm:pt>
    <dgm:pt modelId="6" type="sibTrans">
      <dgm:t>
        <a:bodyPr/>
        <a:p>
          <a:r>
            <a:t>Arrow (skipped)</a:t>
          </a:r>
        </a:p>
      </dgm:t>
    </dgm:pt>
  </dgm:ptLst>
  <dgm:cxnLst>
    <dgm:cxn modelId="c01" srcId="0" destId="1"/>
    <dgm:cxn modelId="c02" srcId="0" destId="2"/>
    <dgm:cxn modelId="c23" srcId="2" destId="3"/>
    <dgm:cxn modelId="c04" srcId="0" destId="4"/>
    <dgm:cxn modelId="c16" srcId="1" destId="6" type="presOf"/>
  </dgm:cxnLst>
</dgm:dataModel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Shape"/>
          <p:cNvSpPr/>
          <p:nvPr>
            <p:ph type="ctrTitle"/>
          </p:nvPr>
        </p:nvSpPr>
        <p:spPr>
          <a:xfrm>
            <a:off x="500000" y="1000000"/>
            <a:ext cx="3000000" cy="500000"/>
          </a:xfrm>
        </p:spPr>
        <p:txBody>
          <a:bodyPr/>
          <a:p>
            <a:r>
              <a:rPr lang="en-US"/>
              <a:t>Layout title</a:t>
            </a:r>
          </a:p>
        </p:txBody>
      </p:sp>
      <p:sp>
        <p:nvSpPr>
          <p:cNvPr id="23" name="Shape"/>
          <p:cNvSpPr/>
          <p:nvPr>
            <p:ph type="subTitle" idx="3"/>
          </p:nvPr>
        </p:nvSpPr>
        <p:spPr>
          <a:xfrm>
            <a:off x="500000" y="3000000"/>
            <a:ext cx="3000000" cy="500000"/>
          </a:xfrm>
        </p:spPr>
        <p:txBody>
          <a:bodyPr/>
          <a:p>
            <a:r>
              <a:rPr lang="en-US"/>
              <a:t>Layout subtitle</a:t>
            </a:r>
          </a:p>
        </p:txBody>
      </p:sp>
      <p:sp>
        <p:nvSpPr>
          <p:cNvPr id="24" name="Shape"/>
          <p:cNvSpPr/>
          <p:nvPr>
            <p:ph type="title"/>
          </p:nvPr>
        </p:nvSpPr>
        <p:spPr>
          <a:xfrm>
            <a:off x="500000" y="300000"/>
            <a:ext cx="3000000" cy="500000"/>
          </a:xfrm>
        </p:spPr>
        <p:txBody>
          <a:bodyPr/>
          <a:p>
            <a:r>
              <a:rPr lang="en-US"/>
              <a:t>Layout title</a:t>
            </a:r>
          </a:p>
        </p:txBody>
      </p:sp>
      <p:sp>
        <p:nvSpPr>
          <p:cNvPr id="25" name="Shape"/>
          <p:cNvSpPr/>
          <p:nvPr>
            <p:ph idx="1"/>
          </p:nvPr>
        </p:nvSpPr>
        <p:spPr>
          <a:xfrm>
            <a:off x="500000" y="1500000"/>
            <a:ext cx="3000000" cy="500000"/>
          </a:xfrm>
        </p:spPr>
        <p:txBody>
          <a:bodyPr/>
          <a:p>
            <a:r>
              <a:rPr lang="en-US"/>
              <a:t>Left</a:t>
            </a:r>
          </a:p>
        </p:txBody>
      </p:sp>
      <p:sp>
        <p:nvSpPr>
          <p:cNvPr id="26" name="Shape"/>
          <p:cNvSpPr/>
          <p:nvPr>
            <p:ph idx="2"/>
          </p:nvPr>
        </p:nvSpPr>
        <p:spPr>
          <a:xfrm>
            <a:off x="5000000" y="1500000"/>
            <a:ext cx="3000000" cy="500000"/>
          </a:xfrm>
        </p:spPr>
        <p:txBody>
          <a:bodyPr/>
          <a:p>
            <a:r>
              <a:rPr lang="en-US"/>
              <a:t>Right</a:t>
            </a:r>
          </a:p>
        </p:txBody>
      </p:sp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" name="Shape"/>
          <p:cNvSpPr/>
          <p:nvPr>
            <p:ph type="title"/>
          </p:nvPr>
        </p:nvSpPr>
        <p:spPr>
          <a:xfrm>
            <a:off x="500000" y="300000"/>
            <a:ext cx="3000000" cy="500000"/>
          </a:xfrm>
        </p:spPr>
        <p:txBody>
          <a:bodyPr/>
          <a:p>
            <a:r>
              <a:rPr lang="en-US"/>
              <a:t>Master title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Data" Type="http://schemas.openxmlformats.org/officeDocument/2006/relationships/diagramData" Target="../diagrams/data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grpSp>
        <p:nvGrpSpPr>
          <p:cNvPr id="9" name="Group"/>
          <p:cNvGrpSpPr/>
          <p:nvPr/>
        </p:nvGrpSpPr>
        <p:grpSpPr>
          <a:xfrm>
            <a:off x="1000000" y="4000000"/>
            <a:ext cx="2000000" cy="1000000"/>
            <a:chOff x="0" y="0"/>
            <a:chExt cx="4000000" cy="2000000"/>
          </a:xfrm>
        </p:grpSpPr>
        <p:sp>
          <p:nvSpPr>
            <p:cNvPr id="10" name="Lower"/>
            <p:cNvSpPr/>
            <p:nvPr/>
          </p:nvSpPr>
          <p:spPr>
            <a:xfrm>
              <a:off x="0" y="1600000"/>
              <a:ext cx="3000000" cy="500000"/>
            </a:xfrm>
          </p:spPr>
          <p:txBody>
            <a:bodyPr/>
            <a:p>
              <a:r>
                <a:rPr lang="en-US"/>
                <a:t>Group lower item</a:t>
              </a:r>
            </a:p>
          </p:txBody>
        </p:sp>
        <p:sp>
          <p:nvSpPr>
            <p:cNvPr id="11" name="Upper"/>
            <p:cNvSpPr/>
            <p:nvPr/>
          </p:nvSpPr>
          <p:spPr>
            <a:xfrm>
              <a:off x="0" y="0"/>
              <a:ext cx="3000000" cy="500000"/>
            </a:xfrm>
          </p:spPr>
          <p:txBody>
            <a:bodyPr/>
            <a:p>
              <a:r>
                <a:rPr lang="en-US"/>
                <a:t>Group upper item</a:t>
              </a:r>
            </a:p>
          </p:txBody>
        </p:sp>
      </p:grpSp>
      <p:sp>
        <p:nvSpPr>
          <p:cNvPr id="13" name="Between"/>
          <p:cNvSpPr/>
          <p:nvPr/>
        </p:nvSpPr>
        <p:spPr>
          <a:xfrm>
            <a:off x="1000000" y="4500000"/>
            <a:ext cx="3000000" cy="500000"/>
          </a:xfrm>
        </p:spPr>
        <p:txBody>
          <a:bodyPr/>
          <a:p>
            <a:r>
              <a:rPr lang="en-US"/>
              <a:t>Between the group items</a:t>
            </a:r>
          </a:p>
        </p:txBody>
      </p:sp>
      <p:graphicFrame>
        <p:nvGraphicFramePr>
          <p:cNvPr id="12" name="Table"/>
          <p:cNvGraphicFramePr/>
          <p:nvPr/>
        </p:nvGraphicFramePr>
        <p:xfrm>
          <a:off x="1000000" y="1500000"/>
          <a:ext cx="6000000" cy="1500000"/>
        </p:xfrm>
        <a:graphic>
          <a:graphicData uri="http://schemas.openxmlformats.org/drawingml/2006/table">
            <a:tbl>
              <a:tblPr firstRow="1"/>
              <a:tblGrid>
                <a:gridCol w="2000000"/>
                <a:gridCol w="2000000"/>
                <a:gridCol w="2000000"/>
              </a:tblGrid>
              <a:tr h="370840">
                <a:tc>
                  <a:txBody>
                    <a:bodyPr/>
                    <a:p>
                      <a:r>
                        <a:rPr lang="en-US"/>
                        <a:t>Site</a:t>
                      </a:r>
                    </a:p>
                  </a:txBody>
                </a:tc>
                <a:tc gridSpan="2">
                  <a:txBody>
                    <a:bodyPr/>
                    <a:p>
                      <a:r>
                        <a:rPr lang="en-US"/>
                        <a:t>Readings</a:t>
                      </a:r>
                    </a:p>
                  </a:txBody>
                </a:tc>
                <a:tc hMerge="1">
                  <a:txBody>
                    <a:bodyPr/>
                    <a:p>
                      <a:r>
                        <a:rPr lang="en-US"/>
                        <a:t/>
                      </a:r>
                    </a:p>
                  </a:txBody>
                </a:tc>
              </a:tr>
              <a:tr h="370840">
                <a:tc rowSpan="2">
                  <a:txBody>
                    <a:bodyPr/>
                    <a:p>
                      <a:r>
                        <a:rPr lang="en-US"/>
                        <a:t>North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7.1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7.3</a:t>
                      </a:r>
                    </a:p>
                  </a:txBody>
                </a:tc>
              </a:tr>
              <a:tr h="370840">
                <a:tc vMerge="1">
                  <a:txBody>
                    <a:bodyPr/>
                    <a:p>
                      <a:r>
                        <a:rPr lang="en-US"/>
                        <a:t/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6.9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7.0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4" name="Shape"/>
          <p:cNvSpPr/>
          <p:nvPr>
            <p:ph type="title"/>
          </p:nvPr>
        </p:nvSpPr>
        <p:spPr/>
        <p:txBody>
          <a:bodyPr/>
          <a:p>
            <a:r>
              <a:rPr lang="en-US"/>
              <a:t>Groups and tables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4" name="Shape"/>
          <p:cNvSpPr/>
          <p:nvPr>
            <p:ph idx="2"/>
          </p:nvPr>
        </p:nvSpPr>
        <p:spPr/>
        <p:txBody>
          <a:bodyPr/>
          <a:p>
            <a:r>
              <a:rPr lang="en-US"/>
              <a:t>Right column point</a:t>
            </a:r>
          </a:p>
          <a:p>
            <a:pPr lvl="1"/>
            <a:r>
              <a:rPr lang="en-US"/>
              <a:t>Right detail</a:t>
            </a:r>
          </a:p>
        </p:txBody>
      </p:sp>
      <p:sp>
        <p:nvSpPr>
          <p:cNvPr id="5" name="Shape"/>
          <p:cNvSpPr/>
          <p:nvPr>
            <p:ph type="title"/>
          </p:nvPr>
        </p:nvSpPr>
        <p:spPr/>
        <p:txBody>
          <a:bodyPr/>
          <a:p>
            <a:r>
              <a:rPr lang="en-US"/>
              <a:t>Two columns</a:t>
            </a:r>
          </a:p>
        </p:txBody>
      </p:sp>
      <p:sp>
        <p:nvSpPr>
          <p:cNvPr id="6" name="Shape"/>
          <p:cNvSpPr/>
          <p:nvPr>
            <p:ph idx="1"/>
          </p:nvPr>
        </p:nvSpPr>
        <p:spPr/>
        <p:txBody>
          <a:bodyPr/>
          <a:p>
            <a:r>
              <a:rPr lang="en-US"/>
              <a:t>Left column point</a:t>
            </a:r>
          </a:p>
          <a:p>
            <a:pPr lvl="1"/>
            <a:r>
              <a:rPr lang="en-US"/>
              <a:t>Left detail</a:t>
            </a:r>
          </a:p>
          <a:p>
            <a:pPr>
              <a:buNone/>
            </a:pPr>
            <a:r>
              <a:rPr lang="en-US"/>
              <a:t>A note without a bullet</a:t>
            </a:r>
          </a:p>
        </p:txBody>
      </p:sp>
      <p:sp>
        <p:nvSpPr>
          <p:cNvPr id="7" name="Steps"/>
          <p:cNvSpPr/>
          <p:nvPr/>
        </p:nvSpPr>
        <p:spPr>
          <a:xfrm>
            <a:off x="500000" y="4000000"/>
            <a:ext cx="3000000" cy="500000"/>
          </a:xfrm>
        </p:spPr>
        <p:txBody>
          <a:bodyPr/>
          <a:p>
            <a:pPr>
              <a:buAutoNum type="arabicPeriod"/>
            </a:pPr>
            <a:r>
              <a:rPr lang="en-US"/>
              <a:t>Collect</a:t>
            </a:r>
          </a:p>
          <a:p>
            <a:pPr>
              <a:buAutoNum type="arabicPeriod"/>
            </a:pPr>
            <a:r>
              <a:rPr lang="en-US"/>
              <a:t>Label</a:t>
            </a:r>
          </a:p>
          <a:p>
            <a:pPr lvl="1">
              <a:buAutoNum type="alphaLcParenR"/>
            </a:pPr>
            <a:r>
              <a:rPr lang="en-US"/>
              <a:t>Duplicate</a:t>
            </a:r>
          </a:p>
          <a:p>
            <a:pPr>
              <a:buAutoNum type="arabicPeriod"/>
            </a:pPr>
            <a:r>
              <a:rPr lang="en-US"/>
              <a:t>Ship</a:t>
            </a:r>
          </a:p>
        </p:txBody>
      </p:sp>
      <p:sp>
        <p:nvSpPr>
          <p:cNvPr id="8" name="Checks"/>
          <p:cNvSpPr/>
          <p:nvPr/>
        </p:nvSpPr>
        <p:spPr>
          <a:xfrm>
            <a:off x="5000000" y="4000000"/>
            <a:ext cx="3000000" cy="500000"/>
          </a:xfrm>
        </p:spPr>
        <p:txBody>
          <a:bodyPr/>
          <a:p>
            <a:pPr>
              <a:buFont typeface="Wingdings"/>
              <a:buChar char="ü"/>
            </a:pPr>
            <a:r>
              <a:rPr lang="en-US"/>
              <a:t>Tide logged</a:t>
            </a:r>
          </a:p>
          <a:p>
            <a:pPr>
              <a:buChar char="–"/>
            </a:pPr>
            <a:r>
              <a:rPr lang="en-US"/>
              <a:t>Gauge read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18" name="Shape"/>
          <p:cNvSpPr/>
          <p:nvPr>
            <p:ph type="ftr" idx="11"/>
          </p:nvPr>
        </p:nvSpPr>
        <p:spPr>
          <a:xfrm>
            <a:off x="3000000" y="6000000"/>
            <a:ext cx="3000000" cy="500000"/>
          </a:xfrm>
        </p:spPr>
        <p:txBody>
          <a:bodyPr/>
          <a:p>
            <a:r>
              <a:rPr lang="en-US"/>
              <a:t>Synthetic data only</a:t>
            </a:r>
          </a:p>
        </p:txBody>
      </p:sp>
      <p:sp>
        <p:nvSpPr>
          <p:cNvPr id="19" name="Shape"/>
          <p:cNvSpPr/>
          <p:nvPr>
            <p:ph type="sldNum" idx="12"/>
          </p:nvPr>
        </p:nvSpPr>
        <p:spPr>
          <a:xfrm>
            <a:off x="7000000" y="6000000"/>
            <a:ext cx="3000000" cy="500000"/>
          </a:xfrm>
        </p:spPr>
        <p:txBody>
          <a:bodyPr/>
          <a:p>
            <a:r>
              <a:rPr lang="en-US"/>
              <a:t>4</a:t>
            </a:r>
          </a:p>
        </p:txBody>
      </p:sp>
      <p:sp>
        <p:nvSpPr>
          <p:cNvPr id="20" name="Shape"/>
          <p:cNvSpPr/>
          <p:nvPr>
            <p:ph type="dt" idx="10"/>
          </p:nvPr>
        </p:nvSpPr>
        <p:spPr>
          <a:xfrm>
            <a:off x="500000" y="6000000"/>
            <a:ext cx="3000000" cy="500000"/>
          </a:xfrm>
        </p:spPr>
        <p:txBody>
          <a:bodyPr/>
          <a:p>
            <a:r>
              <a:rPr lang="en-US"/>
              <a:t>1/1/2026</a:t>
            </a:r>
          </a:p>
        </p:txBody>
      </p:sp>
      <mc:AlternateContent>
        <mc:Choice Requires="p14">
          <p:sp>
            <p:nvSpPr>
              <p:cNvPr id="16" name="New"/>
              <p:cNvSpPr/>
              <p:nvPr/>
            </p:nvSpPr>
            <p:spPr>
              <a:xfrm>
                <a:off x="1000000" y="4200000"/>
                <a:ext cx="3000000" cy="500000"/>
              </a:xfrm>
            </p:spPr>
            <p:txBody>
              <a:bodyPr/>
              <a:p>
                <a:r>
                  <a:rPr lang="en-US"/>
                  <a:t>Choice text (skipped)</a:t>
                </a:r>
              </a:p>
            </p:txBody>
          </p:sp>
        </mc:Choice>
        <mc:Fallback>
          <p:sp>
            <p:nvSpPr>
              <p:cNvPr id="17" name="Old"/>
              <p:cNvSpPr/>
              <p:nvPr/>
            </p:nvSpPr>
            <p:spPr>
              <a:xfrm>
                <a:off x="1000000" y="4200000"/>
                <a:ext cx="3000000" cy="500000"/>
              </a:xfrm>
            </p:spPr>
            <p:txBody>
              <a:bodyPr/>
              <a:p>
                <a:r>
                  <a:rPr lang="en-US"/>
                  <a:t>Fallback text</a:t>
                </a:r>
              </a:p>
            </p:txBody>
          </p:sp>
        </mc:Fallback>
      </mc:AlternateContent>
      <p:graphicFrame>
        <p:nvGraphicFramePr>
          <p:cNvPr id="15" name="Diagram"/>
          <p:cNvGraphicFramePr/>
          <p:nvPr/>
        </p:nvGraphicFramePr>
        <p:xfrm>
          <a:off x="1000000" y="1500000"/>
          <a:ext cx="6000000" cy="2500000"/>
        </p:xfrm>
        <a:graphic>
          <a:graphicData uri="http://schemas.openxmlformats.org/drawingml/2006/diagram">
            <dgm:relIds xmlns:dgm="http://schemas.openxmlformats.org/drawingml/2006/diagram" r:dm="rIdData" r:lo="rIdLayout" r:qs="rIdStyle" r:cs="rIdColors"/>
          </a:graphicData>
        </a:graphic>
      </p:graphicFrame>
      <p:sp>
        <p:nvSpPr>
          <p:cNvPr id="21" name="Shape"/>
          <p:cNvSpPr/>
          <p:nvPr>
            <p:ph type="title"/>
          </p:nvPr>
        </p:nvSpPr>
        <p:spPr/>
        <p:txBody>
          <a:bodyPr/>
          <a:p>
            <a:r>
              <a:rPr lang="en-US"/>
              <a:t>Process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Shape"/>
          <p:cNvSpPr/>
          <p:nvPr>
            <p:ph type="subTitle" idx="3"/>
          </p:nvPr>
        </p:nvSpPr>
        <p:spPr/>
        <p:txBody>
          <a:bodyPr/>
          <a:p>
            <a:r>
              <a:rPr lang="en-US"/>
              <a:t>Field season review</a:t>
            </a:r>
          </a:p>
        </p:txBody>
      </p:sp>
      <p:sp>
        <p:nvSpPr>
          <p:cNvPr id="3" name="Shape"/>
          <p:cNvSpPr/>
          <p:nvPr>
            <p:ph type="ctrTitle"/>
          </p:nvPr>
        </p:nvSpPr>
        <p:spPr/>
        <p:txBody>
          <a:bodyPr/>
          <a:p>
            <a:r>
              <a:rPr lang="en-US"/>
              <a:t>Estuary</a:t>
            </a:r>
          </a:p>
          <a:p>
            <a:r>
              <a:rPr lang="en-US"/>
              <a:t>Monitoring 2026</a:t>
            </a:r>
          </a:p>
        </p:txBody>
      </p:sp>
    </p:spTree>
  </p:cSld>
</p:sld>
</file>